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EF894-3704-D210-848A-0B065DD28D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FE1DCB-CB85-A75E-5029-51BC67E18C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49B27-C8F8-8F88-9C24-7F837DA6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922A5-A442-403C-95C6-90BB6775D65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62FFA-F866-55DB-DEC5-2431F06F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FB3FA-603B-4387-B9D0-5001DCA38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CEB38-FE1D-410D-BABB-C923C937C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89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85900-06EC-677A-3A4F-66DFDC326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8EA8F-5E92-C368-DC8E-096B3EC61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F0A41-2572-0463-3172-CA81FD6A5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922A5-A442-403C-95C6-90BB6775D65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B2D97-0806-34F0-D6C3-AF96E4746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9DF48-4271-8346-2FBA-BD16979F3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CEB38-FE1D-410D-BABB-C923C937C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707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06575-16C5-EE4C-675D-C83F2214E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8D19F-E81A-8A04-6B3A-4C2C340AA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43FB3-404A-3BB0-A202-75EFF1A54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922A5-A442-403C-95C6-90BB6775D65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49940-92BE-A9FF-DF6C-8CE873CD4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05765-E9A5-7B86-000D-44256C58E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CEB38-FE1D-410D-BABB-C923C937C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450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2594E-6133-D598-026D-47BC71568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7D755-6310-9FDD-79E5-BFE335C258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0312D2-B651-5B3A-5835-77B6E2616B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B4C7B2-0266-C95F-A461-9FB283548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922A5-A442-403C-95C6-90BB6775D65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48132B-3F66-DDC7-ABA2-0E76855D6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E07C96-A18A-E1B4-ABE0-B7BDB4ED6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CEB38-FE1D-410D-BABB-C923C937C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946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48B6F-2DAB-8E48-58D7-504F57C54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6B82FB-3934-3BB3-6E5A-03510659F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D7DDE3-196E-3F31-A8F5-400C821656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DE8A94-4B63-5097-133E-940F519D87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2D4835-2773-BCEE-FBB8-02E4AD5F20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3A35B4-42A5-5D7A-1163-765EAF31A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922A5-A442-403C-95C6-90BB6775D65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596366-5AA1-BEB9-E6EF-80BAF073C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2E937F-64ED-CBB5-EC7E-A93BA5289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CEB38-FE1D-410D-BABB-C923C937C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503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76440-9420-0C46-F9A8-ED7EE8ED7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734AF6-451C-2212-3485-3D1C3936E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922A5-A442-403C-95C6-90BB6775D65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3E8F37-41C1-3C3D-E53C-AF50753B0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40510A-8EEA-1F5B-3346-F999699A3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CEB38-FE1D-410D-BABB-C923C937C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416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71A178-EFB4-CB91-694D-01A6A5206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922A5-A442-403C-95C6-90BB6775D65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0BF90A-C4DC-FA67-9C6B-85202A5D9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64AF8-8C14-6059-E781-15E5E7715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CEB38-FE1D-410D-BABB-C923C937C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393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C6CE0-C24A-73A1-2B68-774D2F893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1230B-8A3F-B0B8-3AA3-A5292F83F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796E3C-4FB9-B6A4-94FE-1BD96975A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D9EA4C-4B49-55CA-2F6C-51A63446F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922A5-A442-403C-95C6-90BB6775D65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446239-F71C-208E-02D7-5F7AF43C9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12805-31D6-A37A-8D59-8E3B4F2A1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CEB38-FE1D-410D-BABB-C923C937C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102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44AE8-754E-B8AC-CDEE-143DF8FDF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7922B-EF4E-2323-BCB7-6FB30DFF81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68B5D9-7C92-14A1-9DCE-9733724A9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93B660-09DB-2254-3A4D-D9536EF80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922A5-A442-403C-95C6-90BB6775D65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8F2FB2-F4D7-57AE-D60D-030360587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934B9D-A4B6-552A-1E37-A5F4DD9E1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CEB38-FE1D-410D-BABB-C923C937C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250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227CA-4469-AD85-3AFA-673984FCA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5F7DBA-ACBE-483B-DE9E-632DDA2EC7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E55D3-DA6B-15C3-3907-0B0677624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922A5-A442-403C-95C6-90BB6775D65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999E4-0579-7B48-38E1-B87B60C69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2F07C-74FA-A86A-0B83-DDABCF1B4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CEB38-FE1D-410D-BABB-C923C937C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478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E496D7-B581-EC39-F036-67A57736AF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3CB724-9837-1A0C-399F-E9BD9038C5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ACD1B-E943-7B1B-8FF7-ECB8C20C8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922A5-A442-403C-95C6-90BB6775D65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32BF7-0290-3D92-377F-C15B6BCC0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E4C40-E213-12C9-82B1-7D2A1C6DF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CEB38-FE1D-410D-BABB-C923C937C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66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41296C-6A5B-A075-0DAB-E11BCA89C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873702-39C3-651B-FFE6-40C7E428D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050C3-F7BF-2352-8173-BE00D0E9B5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7922A5-A442-403C-95C6-90BB6775D65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839C5-9375-F461-E5B0-91F6FEE3F9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B4AFC-7161-4DDC-7ED0-C3066D583A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CCEB38-FE1D-410D-BABB-C923C937C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14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78337-BA6E-0617-FA1A-F3A5C8026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7656" y="3081528"/>
            <a:ext cx="9144000" cy="2387600"/>
          </a:xfrm>
        </p:spPr>
        <p:txBody>
          <a:bodyPr>
            <a:normAutofit/>
          </a:bodyPr>
          <a:lstStyle/>
          <a:p>
            <a:r>
              <a:rPr lang="en-US" sz="80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7-Segment I2C (HT16K33)</a:t>
            </a:r>
            <a:endParaRPr lang="en-US" sz="8000" b="1" dirty="0">
              <a:latin typeface="LINE Seed Sans TH" panose="020B0303020203020204" pitchFamily="34" charset="-34"/>
              <a:ea typeface="LINE Seed Sans TH" panose="020B0303020203020204" pitchFamily="34" charset="-34"/>
              <a:cs typeface="LINE Seed Sans TH" panose="020B0303020203020204" pitchFamily="34" charset="-34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60060E7-CA7F-E2B9-2268-65693E683BFA}"/>
              </a:ext>
            </a:extLst>
          </p:cNvPr>
          <p:cNvCxnSpPr/>
          <p:nvPr/>
        </p:nvCxnSpPr>
        <p:spPr>
          <a:xfrm>
            <a:off x="137160" y="2752344"/>
            <a:ext cx="11987784" cy="0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AFC4BA0B-7607-77A4-62D2-875FF29E2DFF}"/>
              </a:ext>
            </a:extLst>
          </p:cNvPr>
          <p:cNvSpPr txBox="1">
            <a:spLocks/>
          </p:cNvSpPr>
          <p:nvPr/>
        </p:nvSpPr>
        <p:spPr>
          <a:xfrm>
            <a:off x="1191768" y="152400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0" b="1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Week 5</a:t>
            </a:r>
            <a:endParaRPr lang="en-US" sz="8000" b="1" dirty="0">
              <a:latin typeface="LINE Seed Sans TH" panose="020B0303020203020204" pitchFamily="34" charset="-34"/>
              <a:ea typeface="LINE Seed Sans TH" panose="020B0303020203020204" pitchFamily="34" charset="-34"/>
              <a:cs typeface="LINE Seed Sans TH" panose="020B0303020203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582094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B7AC1-C89D-69E0-5D69-D66F6FEA8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FCE51AF-2995-1F38-2EC4-F8AE13AE05C8}"/>
              </a:ext>
            </a:extLst>
          </p:cNvPr>
          <p:cNvCxnSpPr>
            <a:cxnSpLocks/>
          </p:cNvCxnSpPr>
          <p:nvPr/>
        </p:nvCxnSpPr>
        <p:spPr>
          <a:xfrm>
            <a:off x="1062228" y="1345501"/>
            <a:ext cx="6737604" cy="0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52954ABF-75F2-1FB0-0F72-1EFEFF5AAC92}"/>
              </a:ext>
            </a:extLst>
          </p:cNvPr>
          <p:cNvSpPr txBox="1">
            <a:spLocks/>
          </p:cNvSpPr>
          <p:nvPr/>
        </p:nvSpPr>
        <p:spPr>
          <a:xfrm>
            <a:off x="-1057656" y="-85027"/>
            <a:ext cx="10732008" cy="14305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th-TH" sz="40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1.การทำงานรูปแบบ </a:t>
            </a:r>
            <a:r>
              <a:rPr lang="en-US" sz="40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I2C </a:t>
            </a:r>
            <a:r>
              <a:rPr lang="th-TH" sz="40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คืออะไร?</a:t>
            </a:r>
            <a:endParaRPr lang="en-US" sz="4000" b="1" dirty="0">
              <a:latin typeface="LINE Seed Sans TH" panose="020B0303020203020204" pitchFamily="34" charset="-34"/>
              <a:ea typeface="LINE Seed Sans TH" panose="020B0303020203020204" pitchFamily="34" charset="-34"/>
              <a:cs typeface="LINE Seed Sans TH" panose="020B0303020203020204" pitchFamily="34" charset="-34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1E0AC9-B5F0-3016-4729-1E2542B14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4983" y="2664269"/>
            <a:ext cx="11702034" cy="1529461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th-TH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	รูปแบบการสื่อสารแบบอนุกรม (</a:t>
            </a:r>
            <a:r>
              <a:rPr lang="en-US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Serial Communication) </a:t>
            </a:r>
            <a:r>
              <a:rPr lang="th-TH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ที่ถูกออกแบบมาเพื่อใช้เชื่อมต่ออุปกรณ์อิเล็กทรอนิกส์ในระยะใกล้บนแผงวงจรเดียวกัน โดยใช้สายสัญญาณเพียง 2 เส้น</a:t>
            </a:r>
            <a:endParaRPr lang="en-US" sz="3600" dirty="0">
              <a:latin typeface="LINE Seed Sans TH" panose="020B0303020203020204" pitchFamily="34" charset="-34"/>
              <a:ea typeface="LINE Seed Sans TH" panose="020B0303020203020204" pitchFamily="34" charset="-34"/>
              <a:cs typeface="LINE Seed Sans TH" panose="020B0303020203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718899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83E20-B852-DB47-A04B-AFCD75FCD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302408-23E7-797F-60AE-6B2D4860D1AF}"/>
              </a:ext>
            </a:extLst>
          </p:cNvPr>
          <p:cNvCxnSpPr>
            <a:cxnSpLocks/>
          </p:cNvCxnSpPr>
          <p:nvPr/>
        </p:nvCxnSpPr>
        <p:spPr>
          <a:xfrm>
            <a:off x="1062228" y="1345501"/>
            <a:ext cx="6737604" cy="0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FE63A5E4-06D6-B7B2-02D7-F8E2C7B5A21A}"/>
              </a:ext>
            </a:extLst>
          </p:cNvPr>
          <p:cNvSpPr txBox="1">
            <a:spLocks/>
          </p:cNvSpPr>
          <p:nvPr/>
        </p:nvSpPr>
        <p:spPr>
          <a:xfrm>
            <a:off x="944880" y="-85027"/>
            <a:ext cx="10732008" cy="14305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th-TH" sz="40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หลักการทำงาน: </a:t>
            </a:r>
            <a:r>
              <a:rPr lang="en-US" sz="40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Master </a:t>
            </a:r>
            <a:r>
              <a:rPr lang="th-TH" sz="40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และ </a:t>
            </a:r>
            <a:r>
              <a:rPr lang="en-US" sz="40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Slave</a:t>
            </a:r>
            <a:endParaRPr lang="en-US" sz="4000" b="1" dirty="0">
              <a:latin typeface="LINE Seed Sans TH" panose="020B0303020203020204" pitchFamily="34" charset="-34"/>
              <a:ea typeface="LINE Seed Sans TH" panose="020B0303020203020204" pitchFamily="34" charset="-34"/>
              <a:cs typeface="LINE Seed Sans TH" panose="020B0303020203020204" pitchFamily="34" charset="-34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2759CB-7246-DE33-B950-C6592DC40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4439" y="1759013"/>
            <a:ext cx="10928985" cy="1529461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th-TH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	</a:t>
            </a:r>
            <a:r>
              <a:rPr lang="en-US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Master (</a:t>
            </a:r>
            <a:r>
              <a:rPr lang="th-TH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ตัวควบคุม): คือไมโครคอนโทรลเลอร์ (เช่น </a:t>
            </a:r>
            <a:r>
              <a:rPr lang="en-US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Arduino </a:t>
            </a:r>
            <a:r>
              <a:rPr lang="th-TH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หรือ </a:t>
            </a:r>
            <a:r>
              <a:rPr lang="en-US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ESP32) </a:t>
            </a:r>
            <a:r>
              <a:rPr lang="th-TH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ที่เป็นผู้เริ่มต้นการสื่อสารและสั่งงาน</a:t>
            </a:r>
            <a:endParaRPr lang="en-US" sz="3600" dirty="0">
              <a:latin typeface="LINE Seed Sans TH" panose="020B0303020203020204" pitchFamily="34" charset="-34"/>
              <a:ea typeface="LINE Seed Sans TH" panose="020B0303020203020204" pitchFamily="34" charset="-34"/>
              <a:cs typeface="LINE Seed Sans TH" panose="020B0303020203020204" pitchFamily="34" charset="-34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B32603A2-B556-DFEF-0938-8A2C1A6D4816}"/>
              </a:ext>
            </a:extLst>
          </p:cNvPr>
          <p:cNvSpPr txBox="1">
            <a:spLocks/>
          </p:cNvSpPr>
          <p:nvPr/>
        </p:nvSpPr>
        <p:spPr>
          <a:xfrm>
            <a:off x="464439" y="3701985"/>
            <a:ext cx="10928985" cy="152946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th-TH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	</a:t>
            </a:r>
            <a:r>
              <a:rPr lang="en-US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SDA (Serial Data Line)</a:t>
            </a:r>
            <a:r>
              <a:rPr lang="th-TH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 </a:t>
            </a:r>
            <a:r>
              <a:rPr lang="en-US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and SCL (Serial Clock Line)</a:t>
            </a:r>
          </a:p>
        </p:txBody>
      </p:sp>
    </p:spTree>
    <p:extLst>
      <p:ext uri="{BB962C8B-B14F-4D97-AF65-F5344CB8AC3E}">
        <p14:creationId xmlns:p14="http://schemas.microsoft.com/office/powerpoint/2010/main" val="1968641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00C71-1F6E-0392-C67D-C21D116C4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D1A9140-3E0D-3B5F-3B4C-EA2F2E37F0B7}"/>
              </a:ext>
            </a:extLst>
          </p:cNvPr>
          <p:cNvCxnSpPr>
            <a:cxnSpLocks/>
          </p:cNvCxnSpPr>
          <p:nvPr/>
        </p:nvCxnSpPr>
        <p:spPr>
          <a:xfrm>
            <a:off x="1062228" y="1345501"/>
            <a:ext cx="6737604" cy="0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BC94774-10D8-2C9D-711A-65FD3E3618D9}"/>
              </a:ext>
            </a:extLst>
          </p:cNvPr>
          <p:cNvSpPr txBox="1">
            <a:spLocks/>
          </p:cNvSpPr>
          <p:nvPr/>
        </p:nvSpPr>
        <p:spPr>
          <a:xfrm>
            <a:off x="944880" y="-85027"/>
            <a:ext cx="10732008" cy="14305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th-TH" sz="40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สายสัญญาณ 2 เส้นสำคัญ</a:t>
            </a:r>
            <a:endParaRPr lang="en-US" sz="4000" b="1" dirty="0">
              <a:latin typeface="LINE Seed Sans TH" panose="020B0303020203020204" pitchFamily="34" charset="-34"/>
              <a:ea typeface="LINE Seed Sans TH" panose="020B0303020203020204" pitchFamily="34" charset="-34"/>
              <a:cs typeface="LINE Seed Sans TH" panose="020B0303020203020204" pitchFamily="34" charset="-34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8AE4727-E656-5090-5AA0-F36470AECD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4439" y="1759013"/>
            <a:ext cx="10928985" cy="1529461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th-TH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	</a:t>
            </a:r>
            <a:r>
              <a:rPr lang="en-US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SDA (Serial Data Line): </a:t>
            </a:r>
            <a:r>
              <a:rPr lang="th-TH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สายสำหรับส่งและรับ ข้อมูล (</a:t>
            </a:r>
            <a:r>
              <a:rPr lang="en-US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Data)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EB2E67C6-05A7-229F-6A8E-25B8B64F5C83}"/>
              </a:ext>
            </a:extLst>
          </p:cNvPr>
          <p:cNvSpPr txBox="1">
            <a:spLocks/>
          </p:cNvSpPr>
          <p:nvPr/>
        </p:nvSpPr>
        <p:spPr>
          <a:xfrm>
            <a:off x="464438" y="4223193"/>
            <a:ext cx="10928985" cy="152946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th-TH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	</a:t>
            </a:r>
            <a:r>
              <a:rPr lang="en-US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SCL (Serial Clock Line): </a:t>
            </a:r>
            <a:r>
              <a:rPr lang="th-TH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สายสำหรับส่ง สัญญาณนาฬิกา (</a:t>
            </a:r>
            <a:r>
              <a:rPr lang="en-US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Clock) </a:t>
            </a:r>
            <a:r>
              <a:rPr lang="th-TH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เพื่อควบคุมจังหวะ (</a:t>
            </a:r>
            <a:r>
              <a:rPr lang="en-US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Synchronization) </a:t>
            </a:r>
            <a:r>
              <a:rPr lang="th-TH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ในการส่งข้อมูล</a:t>
            </a:r>
            <a:endParaRPr lang="en-US" sz="3600" dirty="0">
              <a:latin typeface="LINE Seed Sans TH" panose="020B0303020203020204" pitchFamily="34" charset="-34"/>
              <a:ea typeface="LINE Seed Sans TH" panose="020B0303020203020204" pitchFamily="34" charset="-34"/>
              <a:cs typeface="LINE Seed Sans TH" panose="020B0303020203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622410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CAED2-4C71-F498-140E-69A85DC7F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4BA7786-570C-DD44-6C95-D81AF3AF830F}"/>
              </a:ext>
            </a:extLst>
          </p:cNvPr>
          <p:cNvCxnSpPr>
            <a:cxnSpLocks/>
          </p:cNvCxnSpPr>
          <p:nvPr/>
        </p:nvCxnSpPr>
        <p:spPr>
          <a:xfrm>
            <a:off x="1062228" y="1345501"/>
            <a:ext cx="9608820" cy="0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950ED86F-83E0-F0C2-B95E-6585ADCDBC8E}"/>
              </a:ext>
            </a:extLst>
          </p:cNvPr>
          <p:cNvSpPr txBox="1">
            <a:spLocks/>
          </p:cNvSpPr>
          <p:nvPr/>
        </p:nvSpPr>
        <p:spPr>
          <a:xfrm>
            <a:off x="944880" y="-85027"/>
            <a:ext cx="10732008" cy="14305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th-TH" sz="40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2. </a:t>
            </a:r>
            <a:r>
              <a:rPr lang="en-US" sz="40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Libraries </a:t>
            </a:r>
            <a:r>
              <a:rPr lang="th-TH" sz="40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ที่ใช้งานกับ 7-</a:t>
            </a:r>
            <a:r>
              <a:rPr lang="en-US" sz="40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Segment </a:t>
            </a:r>
            <a:r>
              <a:rPr lang="th-TH" sz="40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แบบ </a:t>
            </a:r>
            <a:r>
              <a:rPr lang="en-US" sz="40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I2C</a:t>
            </a:r>
            <a:endParaRPr lang="en-US" sz="4000" b="1" dirty="0">
              <a:latin typeface="LINE Seed Sans TH" panose="020B0303020203020204" pitchFamily="34" charset="-34"/>
              <a:ea typeface="LINE Seed Sans TH" panose="020B0303020203020204" pitchFamily="34" charset="-34"/>
              <a:cs typeface="LINE Seed Sans TH" panose="020B0303020203020204" pitchFamily="34" charset="-34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286084A-7C9E-1A02-ABEA-BE71450EB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9966" y="2664269"/>
            <a:ext cx="11186922" cy="1529461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th-TH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	</a:t>
            </a:r>
            <a:r>
              <a:rPr lang="en-US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#include &lt;</a:t>
            </a:r>
            <a:r>
              <a:rPr lang="en-US" sz="3600" dirty="0" err="1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Wire.h</a:t>
            </a:r>
            <a:r>
              <a:rPr lang="en-US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&gt;</a:t>
            </a:r>
            <a:r>
              <a:rPr lang="th-TH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 ไลบรารีพื้นฐานของ </a:t>
            </a:r>
            <a:r>
              <a:rPr lang="en-US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Arduino</a:t>
            </a:r>
            <a:br>
              <a:rPr lang="th-TH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</a:br>
            <a:r>
              <a:rPr lang="en-US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ESP32 </a:t>
            </a:r>
            <a:r>
              <a:rPr lang="th-TH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ที่จำเป็นสำหรับการจัดการสาย </a:t>
            </a:r>
            <a:r>
              <a:rPr lang="en-US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SDA/SCL </a:t>
            </a:r>
            <a:br>
              <a:rPr lang="th-TH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</a:br>
            <a:r>
              <a:rPr lang="th-TH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เพื่อส่งข้อมูล </a:t>
            </a:r>
            <a:r>
              <a:rPr lang="en-US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I2C</a:t>
            </a:r>
          </a:p>
        </p:txBody>
      </p:sp>
    </p:spTree>
    <p:extLst>
      <p:ext uri="{BB962C8B-B14F-4D97-AF65-F5344CB8AC3E}">
        <p14:creationId xmlns:p14="http://schemas.microsoft.com/office/powerpoint/2010/main" val="2859431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95C54-6AE0-0EA4-C473-889E2233A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2037CC7-1E0C-4FB2-FCCF-1B7689A1BFF4}"/>
              </a:ext>
            </a:extLst>
          </p:cNvPr>
          <p:cNvCxnSpPr>
            <a:cxnSpLocks/>
          </p:cNvCxnSpPr>
          <p:nvPr/>
        </p:nvCxnSpPr>
        <p:spPr>
          <a:xfrm>
            <a:off x="1062228" y="1345501"/>
            <a:ext cx="9608820" cy="0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119A7A1E-1EC7-A9A2-BE97-50E03EA38F2A}"/>
              </a:ext>
            </a:extLst>
          </p:cNvPr>
          <p:cNvSpPr txBox="1">
            <a:spLocks/>
          </p:cNvSpPr>
          <p:nvPr/>
        </p:nvSpPr>
        <p:spPr>
          <a:xfrm>
            <a:off x="944880" y="-85027"/>
            <a:ext cx="10732008" cy="14305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th-TH" sz="40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2. </a:t>
            </a:r>
            <a:r>
              <a:rPr lang="en-US" sz="40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Libraries </a:t>
            </a:r>
            <a:r>
              <a:rPr lang="th-TH" sz="40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ที่ใช้งานกับ 7-</a:t>
            </a:r>
            <a:r>
              <a:rPr lang="en-US" sz="40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Segment </a:t>
            </a:r>
            <a:r>
              <a:rPr lang="th-TH" sz="40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แบบ </a:t>
            </a:r>
            <a:r>
              <a:rPr lang="en-US" sz="40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I2C</a:t>
            </a:r>
            <a:endParaRPr lang="en-US" sz="4000" b="1" dirty="0">
              <a:latin typeface="LINE Seed Sans TH" panose="020B0303020203020204" pitchFamily="34" charset="-34"/>
              <a:ea typeface="LINE Seed Sans TH" panose="020B0303020203020204" pitchFamily="34" charset="-34"/>
              <a:cs typeface="LINE Seed Sans TH" panose="020B0303020203020204" pitchFamily="34" charset="-34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6C70962-6A9E-AE50-BEF7-DFFC403026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9966" y="2664269"/>
            <a:ext cx="11186922" cy="1529461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th-TH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	</a:t>
            </a:r>
            <a:r>
              <a:rPr lang="en-US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#include &lt;</a:t>
            </a:r>
            <a:r>
              <a:rPr lang="en-US" sz="3600" dirty="0" err="1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Adafruit_GFX.h</a:t>
            </a:r>
            <a:r>
              <a:rPr lang="en-US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&gt;</a:t>
            </a:r>
            <a:r>
              <a:rPr lang="th-TH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 ไลบรารีพื้นฐานสำหรับงานกราฟิก (เช่น การจัดการพิกเซลและตำแหน่ง) ที่ไลบรารีของ </a:t>
            </a:r>
            <a:r>
              <a:rPr lang="en-US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Adafruit </a:t>
            </a:r>
            <a:r>
              <a:rPr lang="th-TH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ส่วนใหญ่นำไปใช้ต่อยอด</a:t>
            </a:r>
            <a:endParaRPr lang="en-US" sz="3600" dirty="0">
              <a:latin typeface="LINE Seed Sans TH" panose="020B0303020203020204" pitchFamily="34" charset="-34"/>
              <a:ea typeface="LINE Seed Sans TH" panose="020B0303020203020204" pitchFamily="34" charset="-34"/>
              <a:cs typeface="LINE Seed Sans TH" panose="020B0303020203020204" pitchFamily="34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2C7D35-81B4-BE6E-5038-365757134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5030" y="3428999"/>
            <a:ext cx="3077004" cy="31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40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5900F-9EA3-ABC9-A26C-D1B8AAD77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D98FE90-F00C-C3DF-00E8-0F2413ABC2AE}"/>
              </a:ext>
            </a:extLst>
          </p:cNvPr>
          <p:cNvCxnSpPr>
            <a:cxnSpLocks/>
          </p:cNvCxnSpPr>
          <p:nvPr/>
        </p:nvCxnSpPr>
        <p:spPr>
          <a:xfrm>
            <a:off x="1062228" y="1345501"/>
            <a:ext cx="9608820" cy="0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EFB3FD89-56FF-320E-0309-E3DE383E72D2}"/>
              </a:ext>
            </a:extLst>
          </p:cNvPr>
          <p:cNvSpPr txBox="1">
            <a:spLocks/>
          </p:cNvSpPr>
          <p:nvPr/>
        </p:nvSpPr>
        <p:spPr>
          <a:xfrm>
            <a:off x="944880" y="-85027"/>
            <a:ext cx="10732008" cy="14305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th-TH" sz="40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2. </a:t>
            </a:r>
            <a:r>
              <a:rPr lang="en-US" sz="40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Libraries </a:t>
            </a:r>
            <a:r>
              <a:rPr lang="th-TH" sz="40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ที่ใช้งานกับ 7-</a:t>
            </a:r>
            <a:r>
              <a:rPr lang="en-US" sz="40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Segment </a:t>
            </a:r>
            <a:r>
              <a:rPr lang="th-TH" sz="40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แบบ </a:t>
            </a:r>
            <a:r>
              <a:rPr lang="en-US" sz="40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I2C</a:t>
            </a:r>
            <a:endParaRPr lang="en-US" sz="4000" b="1" dirty="0">
              <a:latin typeface="LINE Seed Sans TH" panose="020B0303020203020204" pitchFamily="34" charset="-34"/>
              <a:ea typeface="LINE Seed Sans TH" panose="020B0303020203020204" pitchFamily="34" charset="-34"/>
              <a:cs typeface="LINE Seed Sans TH" panose="020B0303020203020204" pitchFamily="34" charset="-34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ADD3857-6E89-434B-EA2D-52F8F0FE94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406" y="3203765"/>
            <a:ext cx="11186922" cy="1529461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th-TH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	</a:t>
            </a:r>
            <a:r>
              <a:rPr lang="en-US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#include &lt;</a:t>
            </a:r>
            <a:r>
              <a:rPr lang="en-US" sz="3600" dirty="0" err="1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Adafruit_LEDBackpack.h</a:t>
            </a:r>
            <a:r>
              <a:rPr lang="en-US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&gt;</a:t>
            </a:r>
            <a:r>
              <a:rPr lang="th-TH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  ไลบรารีเฉพาะที่ทำหน้าที่แปลงตัวเลขหรือตัวอักษรให้เป็นรูปแบบที่ชิป </a:t>
            </a:r>
            <a:r>
              <a:rPr lang="en-US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HT16K33 </a:t>
            </a:r>
            <a:r>
              <a:rPr lang="th-TH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เข้าใจ จากนั้นใช้ฟังก์ชัน </a:t>
            </a:r>
            <a:r>
              <a:rPr lang="en-US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I2C </a:t>
            </a:r>
            <a:r>
              <a:rPr lang="th-TH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ใน </a:t>
            </a:r>
            <a:r>
              <a:rPr lang="en-US" sz="3600" dirty="0" err="1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Wire.h</a:t>
            </a:r>
            <a:r>
              <a:rPr lang="en-US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 </a:t>
            </a:r>
            <a:r>
              <a:rPr lang="th-TH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เพื่อส่งคำสั่งนั้นไปแสดงผลบนจอ 7-</a:t>
            </a:r>
            <a:r>
              <a:rPr lang="en-US" sz="3600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Segment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ECA516-6FC4-D1E0-4A66-9E0B44F77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056" y="3820495"/>
            <a:ext cx="2050969" cy="2836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970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4CA67-3D9B-86FA-7BF0-DCB7BF972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8F1ACC1-3560-8742-5E85-9CBEAD25DB52}"/>
              </a:ext>
            </a:extLst>
          </p:cNvPr>
          <p:cNvCxnSpPr>
            <a:cxnSpLocks/>
          </p:cNvCxnSpPr>
          <p:nvPr/>
        </p:nvCxnSpPr>
        <p:spPr>
          <a:xfrm>
            <a:off x="1062228" y="1345501"/>
            <a:ext cx="9608820" cy="0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61534285-AE11-42AC-E5B8-5AA318602472}"/>
              </a:ext>
            </a:extLst>
          </p:cNvPr>
          <p:cNvSpPr txBox="1">
            <a:spLocks/>
          </p:cNvSpPr>
          <p:nvPr/>
        </p:nvSpPr>
        <p:spPr>
          <a:xfrm>
            <a:off x="944880" y="-85027"/>
            <a:ext cx="10732008" cy="14305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th-TH" sz="40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การต่อวงจร </a:t>
            </a:r>
            <a:r>
              <a:rPr lang="en-US" sz="40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ESP32 7-Segment I2C </a:t>
            </a:r>
          </a:p>
        </p:txBody>
      </p:sp>
      <p:pic>
        <p:nvPicPr>
          <p:cNvPr id="3" name="Picture 2" descr="A black electronic board with blue and red objects&#10;&#10;Description automatically generated">
            <a:extLst>
              <a:ext uri="{FF2B5EF4-FFF2-40B4-BE49-F238E27FC236}">
                <a16:creationId xmlns:a16="http://schemas.microsoft.com/office/drawing/2014/main" id="{A60458C0-7673-3B18-06BF-09F15FB0C0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43" t="4971" r="7606" b="20324"/>
          <a:stretch/>
        </p:blipFill>
        <p:spPr>
          <a:xfrm rot="16200000">
            <a:off x="2106948" y="764272"/>
            <a:ext cx="4171819" cy="5860636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AD9766DF-DBC1-6214-BEAC-6974724DFE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38517" y="2532013"/>
            <a:ext cx="2595372" cy="660117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36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VCC </a:t>
            </a:r>
            <a:r>
              <a:rPr lang="en-US" sz="36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  <a:sym typeface="Wingdings" panose="05000000000000000000" pitchFamily="2" charset="2"/>
              </a:rPr>
              <a:t> 5V</a:t>
            </a:r>
            <a:endParaRPr lang="en-US" sz="3600" b="1" dirty="0">
              <a:latin typeface="LINE Seed Sans TH" panose="020B0303020203020204" pitchFamily="34" charset="-34"/>
              <a:ea typeface="LINE Seed Sans TH" panose="020B0303020203020204" pitchFamily="34" charset="-34"/>
              <a:cs typeface="LINE Seed Sans TH" panose="020B0303020203020204" pitchFamily="34" charset="-34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54A97CC3-5A1E-0A1D-57E4-A948154F1006}"/>
              </a:ext>
            </a:extLst>
          </p:cNvPr>
          <p:cNvSpPr txBox="1">
            <a:spLocks/>
          </p:cNvSpPr>
          <p:nvPr/>
        </p:nvSpPr>
        <p:spPr>
          <a:xfrm>
            <a:off x="7938516" y="3192130"/>
            <a:ext cx="3025139" cy="66011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sz="36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GND </a:t>
            </a:r>
            <a:r>
              <a:rPr lang="en-US" sz="36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  <a:sym typeface="Wingdings" panose="05000000000000000000" pitchFamily="2" charset="2"/>
              </a:rPr>
              <a:t> </a:t>
            </a:r>
            <a:r>
              <a:rPr lang="en-US" sz="36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GND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001A8AC5-4C67-C4F6-3207-80A3C0159B72}"/>
              </a:ext>
            </a:extLst>
          </p:cNvPr>
          <p:cNvSpPr txBox="1">
            <a:spLocks/>
          </p:cNvSpPr>
          <p:nvPr/>
        </p:nvSpPr>
        <p:spPr>
          <a:xfrm>
            <a:off x="7938515" y="3852247"/>
            <a:ext cx="3025139" cy="66011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sz="36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SCL  </a:t>
            </a:r>
            <a:r>
              <a:rPr lang="en-US" sz="36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  <a:sym typeface="Wingdings" panose="05000000000000000000" pitchFamily="2" charset="2"/>
              </a:rPr>
              <a:t> </a:t>
            </a:r>
            <a:r>
              <a:rPr lang="en-US" sz="36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22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5260B23E-CF2D-2D62-25FE-F341315A3F7A}"/>
              </a:ext>
            </a:extLst>
          </p:cNvPr>
          <p:cNvSpPr txBox="1">
            <a:spLocks/>
          </p:cNvSpPr>
          <p:nvPr/>
        </p:nvSpPr>
        <p:spPr>
          <a:xfrm>
            <a:off x="8004906" y="4590490"/>
            <a:ext cx="3025139" cy="66011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sz="36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SDA </a:t>
            </a:r>
            <a:r>
              <a:rPr lang="en-US" sz="36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  <a:sym typeface="Wingdings" panose="05000000000000000000" pitchFamily="2" charset="2"/>
              </a:rPr>
              <a:t> </a:t>
            </a:r>
            <a:r>
              <a:rPr lang="en-US" sz="36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23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EA3D74B3-C112-D7A5-288F-AC5F8D69BC69}"/>
              </a:ext>
            </a:extLst>
          </p:cNvPr>
          <p:cNvSpPr txBox="1">
            <a:spLocks/>
          </p:cNvSpPr>
          <p:nvPr/>
        </p:nvSpPr>
        <p:spPr>
          <a:xfrm>
            <a:off x="7837930" y="1739644"/>
            <a:ext cx="3299461" cy="66011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sz="36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7-S </a:t>
            </a:r>
            <a:r>
              <a:rPr lang="en-US" sz="36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  <a:sym typeface="Wingdings" panose="05000000000000000000" pitchFamily="2" charset="2"/>
              </a:rPr>
              <a:t> ESP32</a:t>
            </a:r>
            <a:endParaRPr lang="en-US" sz="3600" b="1" dirty="0">
              <a:latin typeface="LINE Seed Sans TH" panose="020B0303020203020204" pitchFamily="34" charset="-34"/>
              <a:ea typeface="LINE Seed Sans TH" panose="020B0303020203020204" pitchFamily="34" charset="-34"/>
              <a:cs typeface="LINE Seed Sans TH" panose="020B0303020203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03319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4CA67-3D9B-86FA-7BF0-DCB7BF972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8F1ACC1-3560-8742-5E85-9CBEAD25DB52}"/>
              </a:ext>
            </a:extLst>
          </p:cNvPr>
          <p:cNvCxnSpPr>
            <a:cxnSpLocks/>
          </p:cNvCxnSpPr>
          <p:nvPr/>
        </p:nvCxnSpPr>
        <p:spPr>
          <a:xfrm>
            <a:off x="1062228" y="1345501"/>
            <a:ext cx="9608820" cy="0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61534285-AE11-42AC-E5B8-5AA318602472}"/>
              </a:ext>
            </a:extLst>
          </p:cNvPr>
          <p:cNvSpPr txBox="1">
            <a:spLocks/>
          </p:cNvSpPr>
          <p:nvPr/>
        </p:nvSpPr>
        <p:spPr>
          <a:xfrm>
            <a:off x="944880" y="-85027"/>
            <a:ext cx="10732008" cy="14305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th-TH" sz="40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การเขียนโปรแกรม</a:t>
            </a:r>
            <a:endParaRPr lang="en-US" sz="4000" b="1" dirty="0">
              <a:latin typeface="LINE Seed Sans TH" panose="020B0303020203020204" pitchFamily="34" charset="-34"/>
              <a:ea typeface="LINE Seed Sans TH" panose="020B0303020203020204" pitchFamily="34" charset="-34"/>
              <a:cs typeface="LINE Seed Sans TH" panose="020B0303020203020204" pitchFamily="34" charset="-34"/>
            </a:endParaRPr>
          </a:p>
        </p:txBody>
      </p:sp>
      <p:sp>
        <p:nvSpPr>
          <p:cNvPr id="19" name="Title 3">
            <a:extLst>
              <a:ext uri="{FF2B5EF4-FFF2-40B4-BE49-F238E27FC236}">
                <a16:creationId xmlns:a16="http://schemas.microsoft.com/office/drawing/2014/main" id="{8B7831EB-9C09-4713-420D-08D5AAB7F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7423" y="1813877"/>
            <a:ext cx="11186922" cy="1529461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4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#include &lt;</a:t>
            </a:r>
            <a:r>
              <a:rPr lang="en-US" sz="2400" b="1" dirty="0" err="1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Wire.h</a:t>
            </a:r>
            <a:r>
              <a:rPr lang="en-US" sz="24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&gt;                 // </a:t>
            </a:r>
            <a:r>
              <a:rPr lang="th-TH" sz="24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ไลบรารีสำหรับสื่อสาร </a:t>
            </a:r>
            <a:r>
              <a:rPr lang="en-US" sz="24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I2C</a:t>
            </a:r>
            <a:br>
              <a:rPr lang="en-US" sz="24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</a:br>
            <a:r>
              <a:rPr lang="en-US" sz="24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#include &lt;</a:t>
            </a:r>
            <a:r>
              <a:rPr lang="en-US" sz="2400" b="1" dirty="0" err="1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Adafruit_GFX.h</a:t>
            </a:r>
            <a:r>
              <a:rPr lang="en-US" sz="24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&gt;         // </a:t>
            </a:r>
            <a:r>
              <a:rPr lang="th-TH" sz="24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ไลบรารีกราฟิกพื้นฐาน</a:t>
            </a:r>
            <a:br>
              <a:rPr lang="th-TH" sz="24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</a:br>
            <a:r>
              <a:rPr lang="th-TH" sz="24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#</a:t>
            </a:r>
            <a:r>
              <a:rPr lang="en-US" sz="24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include &lt;</a:t>
            </a:r>
            <a:r>
              <a:rPr lang="en-US" sz="2400" b="1" dirty="0" err="1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Adafruit_LEDBackpack.h</a:t>
            </a:r>
            <a:r>
              <a:rPr lang="en-US" sz="24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&gt; // </a:t>
            </a:r>
            <a:r>
              <a:rPr lang="th-TH" sz="24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ไลบรารีสำหรับโมดูล 7-</a:t>
            </a:r>
            <a:r>
              <a:rPr lang="en-US" sz="24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seg HT16K33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0699B7A-954D-B0E8-290E-DA773C6EC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79" y="3551239"/>
            <a:ext cx="10049891" cy="1157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398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4CA67-3D9B-86FA-7BF0-DCB7BF972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8F1ACC1-3560-8742-5E85-9CBEAD25DB52}"/>
              </a:ext>
            </a:extLst>
          </p:cNvPr>
          <p:cNvCxnSpPr>
            <a:cxnSpLocks/>
          </p:cNvCxnSpPr>
          <p:nvPr/>
        </p:nvCxnSpPr>
        <p:spPr>
          <a:xfrm>
            <a:off x="1062228" y="1345501"/>
            <a:ext cx="9608820" cy="0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61534285-AE11-42AC-E5B8-5AA318602472}"/>
              </a:ext>
            </a:extLst>
          </p:cNvPr>
          <p:cNvSpPr txBox="1">
            <a:spLocks/>
          </p:cNvSpPr>
          <p:nvPr/>
        </p:nvSpPr>
        <p:spPr>
          <a:xfrm>
            <a:off x="944880" y="-85027"/>
            <a:ext cx="10732008" cy="14305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th-TH" sz="40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การเขียนโปรแกรม</a:t>
            </a:r>
            <a:endParaRPr lang="en-US" sz="4000" b="1" dirty="0">
              <a:latin typeface="LINE Seed Sans TH" panose="020B0303020203020204" pitchFamily="34" charset="-34"/>
              <a:ea typeface="LINE Seed Sans TH" panose="020B0303020203020204" pitchFamily="34" charset="-34"/>
              <a:cs typeface="LINE Seed Sans TH" panose="020B0303020203020204" pitchFamily="34" charset="-34"/>
            </a:endParaRPr>
          </a:p>
        </p:txBody>
      </p:sp>
      <p:sp>
        <p:nvSpPr>
          <p:cNvPr id="19" name="Title 3">
            <a:extLst>
              <a:ext uri="{FF2B5EF4-FFF2-40B4-BE49-F238E27FC236}">
                <a16:creationId xmlns:a16="http://schemas.microsoft.com/office/drawing/2014/main" id="{8B7831EB-9C09-4713-420D-08D5AAB7F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880" y="2776029"/>
            <a:ext cx="11186922" cy="1529461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fr-FR" sz="24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Adafruit_7segment matrix = Adafruit_7segment();</a:t>
            </a:r>
            <a:br>
              <a:rPr lang="th-TH" sz="24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</a:br>
            <a:br>
              <a:rPr lang="th-TH" sz="24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</a:br>
            <a:r>
              <a:rPr lang="fr-FR" sz="24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Adafruit_7segment</a:t>
            </a:r>
            <a:r>
              <a:rPr lang="th-TH" sz="24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 </a:t>
            </a:r>
            <a:r>
              <a:rPr lang="en-US" sz="24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= </a:t>
            </a:r>
            <a:r>
              <a:rPr lang="th-TH" sz="24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ชื่อคลาส</a:t>
            </a:r>
            <a:br>
              <a:rPr lang="en-US" sz="24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</a:br>
            <a:r>
              <a:rPr lang="fr-FR" sz="24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matrix = </a:t>
            </a:r>
            <a:r>
              <a:rPr lang="th-TH" sz="24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ชื่อตัวแปรที่สร้างไว้ใช้งาน</a:t>
            </a:r>
            <a:br>
              <a:rPr lang="en-US" sz="24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</a:br>
            <a:r>
              <a:rPr lang="en-US" sz="24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= Adafruit_7segment() = </a:t>
            </a:r>
            <a:r>
              <a:rPr lang="th-TH" sz="24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เรียก </a:t>
            </a:r>
            <a:r>
              <a:rPr lang="en-US" sz="24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Constructor </a:t>
            </a:r>
            <a:r>
              <a:rPr lang="th-TH" sz="24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เพื่อสร้างออ</a:t>
            </a:r>
            <a:r>
              <a:rPr lang="th-TH" sz="2400" b="1" dirty="0" err="1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บเ</a:t>
            </a:r>
            <a:r>
              <a:rPr lang="th-TH" sz="24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จก</a:t>
            </a:r>
            <a:r>
              <a:rPr lang="th-TH" sz="2400" b="1" dirty="0" err="1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ต์</a:t>
            </a:r>
            <a:endParaRPr lang="fr-FR" sz="2400" b="1" dirty="0">
              <a:latin typeface="LINE Seed Sans TH" panose="020B0303020203020204" pitchFamily="34" charset="-34"/>
              <a:ea typeface="LINE Seed Sans TH" panose="020B0303020203020204" pitchFamily="34" charset="-34"/>
              <a:cs typeface="LINE Seed Sans TH" panose="020B0303020203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954546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4CA67-3D9B-86FA-7BF0-DCB7BF972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8F1ACC1-3560-8742-5E85-9CBEAD25DB52}"/>
              </a:ext>
            </a:extLst>
          </p:cNvPr>
          <p:cNvCxnSpPr>
            <a:cxnSpLocks/>
          </p:cNvCxnSpPr>
          <p:nvPr/>
        </p:nvCxnSpPr>
        <p:spPr>
          <a:xfrm>
            <a:off x="1062228" y="1345501"/>
            <a:ext cx="9608820" cy="0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61534285-AE11-42AC-E5B8-5AA318602472}"/>
              </a:ext>
            </a:extLst>
          </p:cNvPr>
          <p:cNvSpPr txBox="1">
            <a:spLocks/>
          </p:cNvSpPr>
          <p:nvPr/>
        </p:nvSpPr>
        <p:spPr>
          <a:xfrm>
            <a:off x="944880" y="-85027"/>
            <a:ext cx="10732008" cy="14305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th-TH" sz="40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การเขียนโปรแกรม</a:t>
            </a:r>
            <a:endParaRPr lang="en-US" sz="4000" b="1" dirty="0">
              <a:latin typeface="LINE Seed Sans TH" panose="020B0303020203020204" pitchFamily="34" charset="-34"/>
              <a:ea typeface="LINE Seed Sans TH" panose="020B0303020203020204" pitchFamily="34" charset="-34"/>
              <a:cs typeface="LINE Seed Sans TH" panose="020B0303020203020204" pitchFamily="34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F438E4-5A2F-F504-735D-597F6F827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066" y="1503327"/>
            <a:ext cx="7083118" cy="477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955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4CA67-3D9B-86FA-7BF0-DCB7BF972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8F1ACC1-3560-8742-5E85-9CBEAD25DB52}"/>
              </a:ext>
            </a:extLst>
          </p:cNvPr>
          <p:cNvCxnSpPr>
            <a:cxnSpLocks/>
          </p:cNvCxnSpPr>
          <p:nvPr/>
        </p:nvCxnSpPr>
        <p:spPr>
          <a:xfrm>
            <a:off x="1062228" y="1345501"/>
            <a:ext cx="9608820" cy="0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61534285-AE11-42AC-E5B8-5AA318602472}"/>
              </a:ext>
            </a:extLst>
          </p:cNvPr>
          <p:cNvSpPr txBox="1">
            <a:spLocks/>
          </p:cNvSpPr>
          <p:nvPr/>
        </p:nvSpPr>
        <p:spPr>
          <a:xfrm>
            <a:off x="944880" y="-85027"/>
            <a:ext cx="10732008" cy="14305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th-TH" sz="40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การรับค่าจากคีย์บอร์ด</a:t>
            </a:r>
            <a:endParaRPr lang="en-US" sz="4000" b="1" dirty="0">
              <a:latin typeface="LINE Seed Sans TH" panose="020B0303020203020204" pitchFamily="34" charset="-34"/>
              <a:ea typeface="LINE Seed Sans TH" panose="020B0303020203020204" pitchFamily="34" charset="-34"/>
              <a:cs typeface="LINE Seed Sans TH" panose="020B0303020203020204" pitchFamily="34" charset="-34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D86450A-EFBD-86CF-69B5-A7934A15A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860" y="1559609"/>
            <a:ext cx="6280532" cy="403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154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4CA67-3D9B-86FA-7BF0-DCB7BF972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8F1ACC1-3560-8742-5E85-9CBEAD25DB52}"/>
              </a:ext>
            </a:extLst>
          </p:cNvPr>
          <p:cNvCxnSpPr>
            <a:cxnSpLocks/>
          </p:cNvCxnSpPr>
          <p:nvPr/>
        </p:nvCxnSpPr>
        <p:spPr>
          <a:xfrm>
            <a:off x="1062228" y="1345501"/>
            <a:ext cx="9608820" cy="0"/>
          </a:xfrm>
          <a:prstGeom prst="line">
            <a:avLst/>
          </a:prstGeom>
          <a:ln w="5715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61534285-AE11-42AC-E5B8-5AA318602472}"/>
              </a:ext>
            </a:extLst>
          </p:cNvPr>
          <p:cNvSpPr txBox="1">
            <a:spLocks/>
          </p:cNvSpPr>
          <p:nvPr/>
        </p:nvSpPr>
        <p:spPr>
          <a:xfrm>
            <a:off x="944880" y="-85027"/>
            <a:ext cx="10732008" cy="14305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th-TH" sz="4000" b="1" dirty="0">
                <a:latin typeface="LINE Seed Sans TH" panose="020B0303020203020204" pitchFamily="34" charset="-34"/>
                <a:ea typeface="LINE Seed Sans TH" panose="020B0303020203020204" pitchFamily="34" charset="-34"/>
                <a:cs typeface="LINE Seed Sans TH" panose="020B0303020203020204" pitchFamily="34" charset="-34"/>
              </a:rPr>
              <a:t>การรับค่าจากคีย์บอร์ด + คำนวณผล</a:t>
            </a:r>
            <a:endParaRPr lang="en-US" sz="4000" b="1" dirty="0">
              <a:latin typeface="LINE Seed Sans TH" panose="020B0303020203020204" pitchFamily="34" charset="-34"/>
              <a:ea typeface="LINE Seed Sans TH" panose="020B0303020203020204" pitchFamily="34" charset="-34"/>
              <a:cs typeface="LINE Seed Sans TH" panose="020B0303020203020204" pitchFamily="34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69E3B4-77E6-262C-3E9F-2DD87B5EE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158" y="1489770"/>
            <a:ext cx="4515480" cy="459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472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395</Words>
  <Application>Microsoft Office PowerPoint</Application>
  <PresentationFormat>Widescreen</PresentationFormat>
  <Paragraphs>29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LINE Seed Sans TH</vt:lpstr>
      <vt:lpstr>Office Theme</vt:lpstr>
      <vt:lpstr>7-Segment I2C (HT16K33)</vt:lpstr>
      <vt:lpstr> รูปแบบการสื่อสารแบบอนุกรม (Serial Communication) ที่ถูกออกแบบมาเพื่อใช้เชื่อมต่ออุปกรณ์อิเล็กทรอนิกส์ในระยะใกล้บนแผงวงจรเดียวกัน โดยใช้สายสัญญาณเพียง 2 เส้น</vt:lpstr>
      <vt:lpstr> Master (ตัวควบคุม): คือไมโครคอนโทรลเลอร์ (เช่น Arduino หรือ ESP32) ที่เป็นผู้เริ่มต้นการสื่อสารและสั่งงาน</vt:lpstr>
      <vt:lpstr> SDA (Serial Data Line): สายสำหรับส่งและรับ ข้อมูล (Data)</vt:lpstr>
      <vt:lpstr> #include &lt;Wire.h&gt; ไลบรารีพื้นฐานของ Arduino ESP32 ที่จำเป็นสำหรับการจัดการสาย SDA/SCL  เพื่อส่งข้อมูล I2C</vt:lpstr>
      <vt:lpstr> #include &lt;Adafruit_GFX.h&gt; ไลบรารีพื้นฐานสำหรับงานกราฟิก (เช่น การจัดการพิกเซลและตำแหน่ง) ที่ไลบรารีของ Adafruit ส่วนใหญ่นำไปใช้ต่อยอด</vt:lpstr>
      <vt:lpstr> #include &lt;Adafruit_LEDBackpack.h&gt;  ไลบรารีเฉพาะที่ทำหน้าที่แปลงตัวเลขหรือตัวอักษรให้เป็นรูปแบบที่ชิป HT16K33 เข้าใจ จากนั้นใช้ฟังก์ชัน I2C ใน Wire.h เพื่อส่งคำสั่งนั้นไปแสดงผลบนจอ 7-Segment</vt:lpstr>
      <vt:lpstr>VCC  5V</vt:lpstr>
      <vt:lpstr>#include &lt;Wire.h&gt;                 // ไลบรารีสำหรับสื่อสาร I2C #include &lt;Adafruit_GFX.h&gt;         // ไลบรารีกราฟิกพื้นฐาน #include &lt;Adafruit_LEDBackpack.h&gt; // ไลบรารีสำหรับโมดูล 7-seg HT16K33</vt:lpstr>
      <vt:lpstr>Adafruit_7segment matrix = Adafruit_7segment();  Adafruit_7segment = ชื่อคลาส matrix = ชื่อตัวแปรที่สร้างไว้ใช้งาน = Adafruit_7segment() = เรียก Constructor เพื่อสร้างออบเจกต์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aekkarat.urairot@outlook.com</dc:creator>
  <cp:lastModifiedBy>AEKKARAT URAIROT</cp:lastModifiedBy>
  <cp:revision>2</cp:revision>
  <dcterms:created xsi:type="dcterms:W3CDTF">2025-11-18T14:03:24Z</dcterms:created>
  <dcterms:modified xsi:type="dcterms:W3CDTF">2025-11-19T13:48:52Z</dcterms:modified>
</cp:coreProperties>
</file>